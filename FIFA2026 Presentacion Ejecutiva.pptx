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SV" sz="1300" b="0" i="0" u="none" strike="noStrike">
                <a:solidFill>
                  <a:srgbClr val="000000"/>
                </a:solidFill>
                <a:latin typeface="Arial"/>
              </a:rPr>
              <a:t>Rango de Edad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 por Edad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02-4B53-B1C3-F8C01C4B07FE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2-4B53-B1C3-F8C01C4B07FE}"/>
              </c:ext>
            </c:extLst>
          </c:dPt>
          <c:dPt>
            <c:idx val="2"/>
            <c:invertIfNegative val="0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02-4B53-B1C3-F8C01C4B07FE}"/>
              </c:ext>
            </c:extLst>
          </c:dPt>
          <c:dPt>
            <c:idx val="3"/>
            <c:invertIfNegative val="0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02-4B53-B1C3-F8C01C4B07FE}"/>
              </c:ext>
            </c:extLst>
          </c:dPt>
          <c:dPt>
            <c:idx val="4"/>
            <c:invertIfNegative val="0"/>
            <c:bubble3D val="0"/>
            <c:spPr>
              <a:solidFill>
                <a:srgbClr val="66BB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02-4B53-B1C3-F8C01C4B07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5E20"/>
                    </a:solidFill>
                    <a:latin typeface="Arial"/>
                  </a:defRPr>
                </a:pPr>
                <a:endParaRPr lang="es-S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23.4</c:v>
                </c:pt>
                <c:pt idx="1">
                  <c:v>29.5</c:v>
                </c:pt>
                <c:pt idx="2">
                  <c:v>22.1</c:v>
                </c:pt>
                <c:pt idx="3">
                  <c:v>15.8</c:v>
                </c:pt>
                <c:pt idx="4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E02-4B53-B1C3-F8C01C4B07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SV" sz="1200" b="0" i="0" u="none" strike="noStrike">
                <a:solidFill>
                  <a:srgbClr val="000000"/>
                </a:solidFill>
                <a:latin typeface="Arial"/>
              </a:rPr>
              <a:t>Top 3 Snacks (respuesta múltiple)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Snacks más mencionados (%)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636-4A95-A446-63E3039BC641}"/>
              </c:ext>
            </c:extLst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36-4A95-A446-63E3039BC641}"/>
              </c:ext>
            </c:extLst>
          </c:dPt>
          <c:dPt>
            <c:idx val="2"/>
            <c:invertIfNegative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36-4A95-A446-63E3039BC6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S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Mundialitos
Queso Picante</c:v>
                </c:pt>
                <c:pt idx="1">
                  <c:v>CrunchMax BBQ</c:v>
                </c:pt>
                <c:pt idx="2">
                  <c:v>Gol Nachos
Supreme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27.7</c:v>
                </c:pt>
                <c:pt idx="1">
                  <c:v>27.1</c:v>
                </c:pt>
                <c:pt idx="2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636-4A95-A446-63E3039BC6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SV" sz="1200" b="0" i="0" u="none" strike="noStrike">
                <a:solidFill>
                  <a:srgbClr val="000000"/>
                </a:solidFill>
                <a:latin typeface="Arial"/>
              </a:rPr>
              <a:t>Rango de Precio Ideal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aceptado por unidad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25-4D10-A5F0-69F492BAE086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25-4D10-A5F0-69F492BAE086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25-4D10-A5F0-69F492BAE086}"/>
              </c:ext>
            </c:extLst>
          </c:dPt>
          <c:dPt>
            <c:idx val="3"/>
            <c:invertIfNegative val="0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25-4D10-A5F0-69F492BAE086}"/>
              </c:ext>
            </c:extLst>
          </c:dPt>
          <c:dPt>
            <c:idx val="4"/>
            <c:invertIfNegative val="0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25-4D10-A5F0-69F492BAE08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S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Q10</c:v>
                </c:pt>
                <c:pt idx="1">
                  <c:v>Q10–Q15</c:v>
                </c:pt>
                <c:pt idx="2">
                  <c:v>Q16–Q20</c:v>
                </c:pt>
                <c:pt idx="3">
                  <c:v>Q21–Q25</c:v>
                </c:pt>
                <c:pt idx="4">
                  <c:v>&gt; Q25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21.4</c:v>
                </c:pt>
                <c:pt idx="2">
                  <c:v>35.299999999999997</c:v>
                </c:pt>
                <c:pt idx="3">
                  <c:v>21.1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25-4D10-A5F0-69F492BAE0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SV" sz="1200" b="0" i="0" u="none" strike="noStrike">
                <a:solidFill>
                  <a:srgbClr val="000000"/>
                </a:solidFill>
                <a:latin typeface="Arial"/>
              </a:rPr>
              <a:t>Top Jugadores (respuesta múltiple)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Jugadores más influyentes (%)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A8-4EE3-A8DD-4BF675ADED7F}"/>
              </c:ext>
            </c:extLst>
          </c:dPt>
          <c:dPt>
            <c:idx val="1"/>
            <c:invertIfNegative val="0"/>
            <c:bubble3D val="0"/>
            <c:spPr>
              <a:solidFill>
                <a:srgbClr val="CFD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A8-4EE3-A8DD-4BF675ADED7F}"/>
              </c:ext>
            </c:extLst>
          </c:dPt>
          <c:dPt>
            <c:idx val="2"/>
            <c:invertIfNegative val="0"/>
            <c:bubble3D val="0"/>
            <c:spPr>
              <a:solidFill>
                <a:srgbClr val="CFD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A8-4EE3-A8DD-4BF675ADED7F}"/>
              </c:ext>
            </c:extLst>
          </c:dPt>
          <c:dPt>
            <c:idx val="3"/>
            <c:invertIfNegative val="0"/>
            <c:bubble3D val="0"/>
            <c:spPr>
              <a:solidFill>
                <a:srgbClr val="CFD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A8-4EE3-A8DD-4BF675ADED7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S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Lionel Messi</c:v>
                </c:pt>
                <c:pt idx="1">
                  <c:v>Cristiano Ronaldo</c:v>
                </c:pt>
                <c:pt idx="2">
                  <c:v>Neymar Jr.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34.6</c:v>
                </c:pt>
                <c:pt idx="1">
                  <c:v>32.5</c:v>
                </c:pt>
                <c:pt idx="2">
                  <c:v>23.7</c:v>
                </c:pt>
                <c:pt idx="3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A8-4EE3-A8DD-4BF675ADED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SV" sz="1300" b="0" i="0" u="none" strike="noStrike">
                <a:solidFill>
                  <a:srgbClr val="000000"/>
                </a:solidFill>
                <a:latin typeface="Arial"/>
              </a:rPr>
              <a:t>Promociones Preferidas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Promociones preferidas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BB-462E-B38F-4AE19F6B7BCA}"/>
              </c:ext>
            </c:extLst>
          </c:dPt>
          <c:dPt>
            <c:idx val="1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BB-462E-B38F-4AE19F6B7BCA}"/>
              </c:ext>
            </c:extLst>
          </c:dPt>
          <c:dPt>
            <c:idx val="2"/>
            <c:bubble3D val="0"/>
            <c:spPr>
              <a:solidFill>
                <a:srgbClr val="007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BB-462E-B38F-4AE19F6B7BCA}"/>
              </c:ext>
            </c:extLst>
          </c:dPt>
          <c:dPt>
            <c:idx val="3"/>
            <c:bubble3D val="0"/>
            <c:spPr>
              <a:solidFill>
                <a:srgbClr val="607D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BB-462E-B38F-4AE19F6B7BCA}"/>
              </c:ext>
            </c:extLst>
          </c:dPt>
          <c:dPt>
            <c:idx val="4"/>
            <c:bubble3D val="0"/>
            <c:spPr>
              <a:solidFill>
                <a:srgbClr val="CFD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BB-462E-B38F-4AE19F6B7BC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SV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BB-462E-B38F-4AE19F6B7BC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SV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BB-462E-B38F-4AE19F6B7BC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SV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BB-462E-B38F-4AE19F6B7BC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SV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BB-462E-B38F-4AE19F6B7BC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SV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BB-462E-B38F-4AE19F6B7BC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SV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2x1</c:v>
                </c:pt>
                <c:pt idx="1">
                  <c:v>Descuento directo</c:v>
                </c:pt>
                <c:pt idx="2">
                  <c:v>Pack familiar</c:v>
                </c:pt>
                <c:pt idx="3">
                  <c:v>Sorteos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22.3</c:v>
                </c:pt>
                <c:pt idx="1">
                  <c:v>21.9</c:v>
                </c:pt>
                <c:pt idx="2">
                  <c:v>19.5</c:v>
                </c:pt>
                <c:pt idx="3">
                  <c:v>18.8</c:v>
                </c:pt>
                <c:pt idx="4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BB-462E-B38F-4AE19F6B7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204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ejecutivo: el proyecto analiza 2,488 encuestas de consumidores guatemaltecos para diseñar una campaña de marketing de snacks alrededor del Mundial FIFA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consolida la recomendación final basada en los datos: producto Mundialitos Queso Picante, embajador Messi, selección Argentina, precio Q16-Q20, promoción 2x1 + coleccionables, canal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743200" cy="2743200"/>
          </a:xfrm>
          <a:prstGeom prst="ellipse">
            <a:avLst/>
          </a:prstGeom>
          <a:solidFill>
            <a:srgbClr val="0D1B2A">
              <a:alpha val="80000"/>
            </a:srgbClr>
          </a:solidFill>
          <a:ln w="381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⚽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2026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MERCADO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5029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CAMPAÑA DE MARKETING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SNACKS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06240" y="20116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para la Toma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Decisiones Empresariales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Mundial FIFA 2026 — Guatemala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31546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796B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31546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1546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31546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Pandas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0" y="31546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796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31546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junio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Alejandro Escobar Barahona  ·  Daniella Marissa Navarro Araniva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Diego Alberto Méndez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Módulo Pandas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de snacks guatemalteca busca diseñar una campaña publicitaria efectiva para el Mundial FIFA 2026, basada en datos concretos sobre hábitos, preferencias y percepciones de 2,488 consumidores encuestados.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77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2860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377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📺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87.9%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14600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en 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Mundial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377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62.1%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Dispuestos a pagar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premium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22860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377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12280" y="3566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ETL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14300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30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con 2,500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/ 26 cols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4300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1801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130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Dimensiones, nulos,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duplicados, tipos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114300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1801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30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duplicados retirados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→ 'No especificado'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0515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52360" y="114300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1801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130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Segmentos, KPIs,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múltiple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5840" y="283464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intención,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coleccionables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14600" y="27432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83464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31" name="Text 29"/>
          <p:cNvSpPr/>
          <p:nvPr/>
        </p:nvSpPr>
        <p:spPr>
          <a:xfrm>
            <a:off x="315468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1460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1460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gráficos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barras y pastel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7432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03520" y="283464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6344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12280" y="27432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52360" y="283464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41" name="Text 39"/>
          <p:cNvSpPr/>
          <p:nvPr/>
        </p:nvSpPr>
        <p:spPr>
          <a:xfrm>
            <a:off x="74523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1228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1228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CSV limpios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DEL CONSUMIDOR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051560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00600" y="10515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9496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Género equilibrado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9496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Masculino 48.8%  ·  Femenino 48.7%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938528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1938528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94960" y="2002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Concentración geográfica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94960" y="2276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en Guatemala (departamento capital)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2825496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2825496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94960" y="2889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frecuencia de compra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94960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consume snacks 1–2 veces/semana o más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0" y="3712464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00600" y="3712464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394960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venta líder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4050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 38.3% · Conveniencia 21.9%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PREFERENCIAS DE SNACKS Y PRECIOS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65760" y="3566160"/>
          <a:ext cx="411480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754880" y="1051560"/>
            <a:ext cx="4023360" cy="1115568"/>
          </a:xfrm>
          <a:prstGeom prst="roundRect">
            <a:avLst>
              <a:gd name="adj" fmla="val 8197"/>
            </a:avLst>
          </a:prstGeom>
          <a:solidFill>
            <a:srgbClr val="1B5E20"/>
          </a:solidFill>
          <a:ln/>
        </p:spPr>
      </p:sp>
      <p:sp>
        <p:nvSpPr>
          <p:cNvPr id="7" name="Text 3"/>
          <p:cNvSpPr/>
          <p:nvPr/>
        </p:nvSpPr>
        <p:spPr>
          <a:xfrm>
            <a:off x="4800600" y="1115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Q16–Q20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48006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ideal por unidad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(35.3% lo prefiere)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2350008"/>
            <a:ext cx="4023360" cy="1115568"/>
          </a:xfrm>
          <a:prstGeom prst="roundRect">
            <a:avLst>
              <a:gd name="adj" fmla="val 8197"/>
            </a:avLst>
          </a:prstGeom>
          <a:solidFill>
            <a:srgbClr val="00796B"/>
          </a:solidFill>
          <a:ln/>
        </p:spPr>
      </p:sp>
      <p:sp>
        <p:nvSpPr>
          <p:cNvPr id="10" name="Text 6"/>
          <p:cNvSpPr/>
          <p:nvPr/>
        </p:nvSpPr>
        <p:spPr>
          <a:xfrm>
            <a:off x="4800600" y="24140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Q25–Q50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4800600" y="2944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típico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partido (34.7%)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3648456"/>
            <a:ext cx="4023360" cy="1115568"/>
          </a:xfrm>
          <a:prstGeom prst="roundRect">
            <a:avLst>
              <a:gd name="adj" fmla="val 8197"/>
            </a:avLst>
          </a:prstGeom>
          <a:solidFill>
            <a:srgbClr val="F5A623"/>
          </a:solidFill>
          <a:ln/>
        </p:spPr>
      </p:sp>
      <p:sp>
        <p:nvSpPr>
          <p:cNvPr id="13" name="Text 9"/>
          <p:cNvSpPr/>
          <p:nvPr/>
        </p:nvSpPr>
        <p:spPr>
          <a:xfrm>
            <a:off x="4800600" y="37124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62.1%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80060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Dispuestos a pagar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premium Mundial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INFLUENCIAS: JUGADORES Y SELECCIONES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8778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Selecciones con mayor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influencia de compra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846320" y="162306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623060"/>
            <a:ext cx="802112" cy="777240"/>
          </a:xfrm>
          <a:prstGeom prst="rect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6687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🇦🇷 Argentina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0" y="16687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846320" y="25831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583180"/>
            <a:ext cx="558333" cy="777240"/>
          </a:xfrm>
          <a:prstGeom prst="rect">
            <a:avLst/>
          </a:prstGeom>
          <a:solidFill>
            <a:srgbClr val="009C3B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6289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🇧🇷 Brasil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46720" y="26289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9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846320" y="354330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3543300"/>
            <a:ext cx="412852" cy="777240"/>
          </a:xfrm>
          <a:prstGeom prst="rect">
            <a:avLst/>
          </a:prstGeom>
          <a:solidFill>
            <a:srgbClr val="AA151B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35890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🇪🇸 España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46720" y="35890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A1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846320" y="45034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00796B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4496985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Publicidad más efectiva: "Un jugador famoso" (29.5%)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 de "Una selección nacional" (24.8%)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PROMOCIONES Y COLECCIONABLES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4114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0515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0" y="109728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🃏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0" y="1115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61.7%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669280" y="18105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en tarjetas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coleccionables del Mundial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606040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0F4F8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26060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03520" y="2651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2x1 lidera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0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 — la promoción más valorada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3227832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0F4F8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32278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303520" y="3273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Descuento directo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35295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 — casi empate técnico con 2x1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3849624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0F4F8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00600" y="38496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30352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Combinación ganadora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03520" y="4151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2x1 + coleccionables = mayor retención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4471416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0F4F8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00600" y="447141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303520" y="45171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 familiar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03520" y="4773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 — ideal para ver partidos en grupo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ESTRATÉGICA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 · Campaña Mundial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35608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Mundialitos Queso Picante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CrunchMax BBQ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35608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Embajador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Lionel Messi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(34.6% de menciones)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35608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🇦🇷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(20.4% influencia de compra)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10128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💲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– Q20 por unidad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Edición premium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10128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7764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2x1 + Tarjetas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Coleccionables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32004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310128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1228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+ Redes sociales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Punto de venta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Consumidor joven y activo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1155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53% tiene 18–34 años, con alta frecuencia de consumo y disposición a gastar Q25–Q100 por partido de fútbol.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83664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Dúo Messi–Argentina insuperable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88366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correlación entre el jugador (34.6%) y la selección (20.4%) permite una campaña integrada y coherente con un solo mensaje central.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841248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Sabores intensos dominan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6517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Queso picante y BBQ son los favoritos, lo que debe orientar el desarrollo de producto y la comunicación de marca.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841248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19856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4198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Descuentos + coleccionables = lealtad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41985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de 2x1 y tarjetas coleccionables (61.7% de interés) ofrece la vía más efectiva para fidelizar y elevar el ticket promedio.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23944"/>
            <a:ext cx="841248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87952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187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Enorme potencial de campaña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41879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 de interés en ver el Mundial y 62.1% dispuestos a pagar premium confirman una oportunidad de negocio excepcional.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548640"/>
            <a:ext cx="3657600" cy="3657600"/>
          </a:xfrm>
          <a:prstGeom prst="ellipse">
            <a:avLst/>
          </a:prstGeom>
          <a:solidFill>
            <a:srgbClr val="1B5E2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106526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⚽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32232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¡El Mundial 2026 es nuestra oportunidad!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Módulo Pandas · Junio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3840480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00796B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3840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github.com/Maxrissa/Proyecto-Final-modulo-pandas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66B7BF-F482-0FB1-EE8E-C004030A9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796" y="534564"/>
            <a:ext cx="5078408" cy="27678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688</Words>
  <Application>Microsoft Office PowerPoint</Application>
  <PresentationFormat>Presentación en pantalla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Mercado - Mundial FIFA 2026</dc:title>
  <dc:subject>PptxGenJS Presentation</dc:subject>
  <dc:creator>PptxGenJS</dc:creator>
  <cp:lastModifiedBy>Daniella Navarro</cp:lastModifiedBy>
  <cp:revision>3</cp:revision>
  <dcterms:created xsi:type="dcterms:W3CDTF">2026-06-08T21:12:36Z</dcterms:created>
  <dcterms:modified xsi:type="dcterms:W3CDTF">2026-06-08T21:24:48Z</dcterms:modified>
</cp:coreProperties>
</file>